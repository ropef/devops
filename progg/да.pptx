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10540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87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9629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0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34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42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18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659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292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89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54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6E3AF1C-FC64-4E9D-8DAE-069514CA45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5E60A47-5781-4691-BA4A-6DD88E8DB85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5951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E6C2C-B7E5-42A0-A2CB-6D3CDADCD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113" y="1788454"/>
            <a:ext cx="11072811" cy="2098226"/>
          </a:xfrm>
        </p:spPr>
        <p:txBody>
          <a:bodyPr/>
          <a:lstStyle/>
          <a:p>
            <a:r>
              <a:rPr lang="ru-RU" sz="3600" dirty="0"/>
              <a:t>Организация защиты информации </a:t>
            </a:r>
            <a:br>
              <a:rPr lang="en-US" sz="2000" dirty="0"/>
            </a:br>
            <a:r>
              <a:rPr lang="ru-RU" sz="2000" dirty="0"/>
              <a:t>на корпоративных предприятиях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78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3687BB72-843C-4628-8F50-AFF70121E3C0}"/>
              </a:ext>
            </a:extLst>
          </p:cNvPr>
          <p:cNvSpPr/>
          <p:nvPr/>
        </p:nvSpPr>
        <p:spPr>
          <a:xfrm>
            <a:off x="9336282" y="2628898"/>
            <a:ext cx="2743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55FC0A72-B443-4EF5-B7CC-E51E0CE1606E}"/>
              </a:ext>
            </a:extLst>
          </p:cNvPr>
          <p:cNvSpPr/>
          <p:nvPr/>
        </p:nvSpPr>
        <p:spPr>
          <a:xfrm>
            <a:off x="5595934" y="2628898"/>
            <a:ext cx="2599134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8">
            <a:extLst>
              <a:ext uri="{FF2B5EF4-FFF2-40B4-BE49-F238E27FC236}">
                <a16:creationId xmlns:a16="http://schemas.microsoft.com/office/drawing/2014/main" id="{BB7778B4-A45F-4B1E-B0C5-96200DAE5A4D}"/>
              </a:ext>
            </a:extLst>
          </p:cNvPr>
          <p:cNvSpPr/>
          <p:nvPr/>
        </p:nvSpPr>
        <p:spPr>
          <a:xfrm>
            <a:off x="1776418" y="2657473"/>
            <a:ext cx="2452682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4F52B9B-F409-4D4A-876A-BCE3A2987BC7}"/>
              </a:ext>
            </a:extLst>
          </p:cNvPr>
          <p:cNvSpPr/>
          <p:nvPr/>
        </p:nvSpPr>
        <p:spPr>
          <a:xfrm>
            <a:off x="4229100" y="114299"/>
            <a:ext cx="5372100" cy="1185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D1BEE2-9E42-476B-852B-98007C1C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4" y="114299"/>
            <a:ext cx="5343526" cy="1185863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2000" b="1" dirty="0">
                <a:solidFill>
                  <a:schemeClr val="tx1"/>
                </a:solidFill>
                <a:latin typeface="Aptos"/>
              </a:rPr>
              <a:t>Информация — один из ключевых активов </a:t>
            </a:r>
            <a:r>
              <a:rPr lang="ru-RU" b="1" dirty="0">
                <a:solidFill>
                  <a:schemeClr val="tx1"/>
                </a:solidFill>
                <a:latin typeface="Aptos"/>
              </a:rPr>
              <a:t>современных </a:t>
            </a:r>
            <a:r>
              <a:rPr lang="ru-RU" sz="2000" b="1" dirty="0">
                <a:solidFill>
                  <a:schemeClr val="tx1"/>
                </a:solidFill>
                <a:latin typeface="Aptos"/>
              </a:rPr>
              <a:t>компаний.</a:t>
            </a:r>
          </a:p>
          <a:p>
            <a:pPr marL="0" indent="0" algn="ctr">
              <a:buNone/>
            </a:pPr>
            <a:r>
              <a:rPr lang="ru-RU" dirty="0">
                <a:solidFill>
                  <a:schemeClr val="tx1"/>
                </a:solidFill>
                <a:latin typeface="Aptos"/>
              </a:rPr>
              <a:t>Не соблюдение правил защиты информации влечет за собой последствия</a:t>
            </a:r>
            <a:r>
              <a:rPr lang="en-US" dirty="0">
                <a:solidFill>
                  <a:schemeClr val="tx1"/>
                </a:solidFill>
                <a:latin typeface="Aptos"/>
              </a:rPr>
              <a:t>:</a:t>
            </a:r>
            <a:endParaRPr lang="ru-RU" dirty="0">
              <a:solidFill>
                <a:schemeClr val="tx1"/>
              </a:solidFill>
              <a:latin typeface="Aptos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BE10E49-CA18-4599-AE7E-C01F75AAF96F}"/>
              </a:ext>
            </a:extLst>
          </p:cNvPr>
          <p:cNvCxnSpPr>
            <a:cxnSpLocks/>
          </p:cNvCxnSpPr>
          <p:nvPr/>
        </p:nvCxnSpPr>
        <p:spPr>
          <a:xfrm flipH="1">
            <a:off x="2969420" y="1300162"/>
            <a:ext cx="1912144" cy="13287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DF3A692-EB64-4D71-BB8C-D4B7B09340FE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929437" y="1300162"/>
            <a:ext cx="0" cy="13287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366AEE0-9949-4F1B-BAB1-992043CCCEA5}"/>
              </a:ext>
            </a:extLst>
          </p:cNvPr>
          <p:cNvCxnSpPr>
            <a:cxnSpLocks/>
          </p:cNvCxnSpPr>
          <p:nvPr/>
        </p:nvCxnSpPr>
        <p:spPr>
          <a:xfrm>
            <a:off x="9222580" y="1300162"/>
            <a:ext cx="1407315" cy="13287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A6AF15-CAF3-433E-AF45-DD826BE365B7}"/>
              </a:ext>
            </a:extLst>
          </p:cNvPr>
          <p:cNvSpPr txBox="1"/>
          <p:nvPr/>
        </p:nvSpPr>
        <p:spPr>
          <a:xfrm>
            <a:off x="1872854" y="2657473"/>
            <a:ext cx="2599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Финансовые потери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sz="1800" b="0" dirty="0">
                <a:solidFill>
                  <a:srgbClr val="2D3746"/>
                </a:solidFill>
                <a:latin typeface="Aptos"/>
              </a:rPr>
              <a:t>Простой процессов, мошенничество, расходы на восстановление.</a:t>
            </a:r>
          </a:p>
          <a:p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8B6550-BBEB-463D-89EF-0BFDB4EBAFF9}"/>
              </a:ext>
            </a:extLst>
          </p:cNvPr>
          <p:cNvSpPr txBox="1"/>
          <p:nvPr/>
        </p:nvSpPr>
        <p:spPr>
          <a:xfrm>
            <a:off x="5714994" y="2628898"/>
            <a:ext cx="26217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FF0000"/>
                </a:solidFill>
                <a:latin typeface="Aptos"/>
              </a:rPr>
              <a:t>Репутационные риски</a:t>
            </a:r>
          </a:p>
          <a:p>
            <a:r>
              <a:rPr lang="ru-RU" sz="1800" b="0" dirty="0">
                <a:solidFill>
                  <a:srgbClr val="2D3746"/>
                </a:solidFill>
                <a:latin typeface="Aptos"/>
              </a:rPr>
              <a:t>Потеря доверия клиентов, партнёров и сотрудников.</a:t>
            </a:r>
          </a:p>
          <a:p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CF25F3-5751-4B31-9BF0-21A47B784451}"/>
              </a:ext>
            </a:extLst>
          </p:cNvPr>
          <p:cNvSpPr txBox="1"/>
          <p:nvPr/>
        </p:nvSpPr>
        <p:spPr>
          <a:xfrm>
            <a:off x="9386886" y="2657473"/>
            <a:ext cx="27539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FF0000"/>
                </a:solidFill>
                <a:latin typeface="Aptos"/>
              </a:rPr>
              <a:t>Правовые последствия</a:t>
            </a:r>
          </a:p>
          <a:p>
            <a:r>
              <a:rPr lang="ru-RU" sz="1800" b="0" dirty="0">
                <a:solidFill>
                  <a:srgbClr val="2D3746"/>
                </a:solidFill>
                <a:latin typeface="Aptos"/>
              </a:rPr>
              <a:t>Нарушение договоров и требований законодательства о данных.</a:t>
            </a:r>
          </a:p>
          <a:p>
            <a:endParaRPr lang="ru-RU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EB094F2-84F6-40A5-90F6-C09770F11F0D}"/>
              </a:ext>
            </a:extLst>
          </p:cNvPr>
          <p:cNvSpPr/>
          <p:nvPr/>
        </p:nvSpPr>
        <p:spPr>
          <a:xfrm>
            <a:off x="9032082" y="4724401"/>
            <a:ext cx="3048000" cy="2019300"/>
          </a:xfrm>
          <a:prstGeom prst="rect">
            <a:avLst/>
          </a:prstGeom>
          <a:solidFill>
            <a:srgbClr val="EEF5FC"/>
          </a:solidFill>
          <a:ln w="9525">
            <a:solidFill>
              <a:srgbClr val="C8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1" name="Picture 4" descr="image.png">
            <a:extLst>
              <a:ext uri="{FF2B5EF4-FFF2-40B4-BE49-F238E27FC236}">
                <a16:creationId xmlns:a16="http://schemas.microsoft.com/office/drawing/2014/main" id="{D997461A-C512-44A5-8787-6EBDB7923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282" y="5200652"/>
            <a:ext cx="609600" cy="6096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642526A-C0C2-4322-B379-E82BF8C08B0D}"/>
              </a:ext>
            </a:extLst>
          </p:cNvPr>
          <p:cNvSpPr txBox="1"/>
          <p:nvPr/>
        </p:nvSpPr>
        <p:spPr>
          <a:xfrm>
            <a:off x="9105894" y="5820371"/>
            <a:ext cx="2974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Главная цель — непрерывность работы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317970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4212A2A4-76FA-440D-B127-7DF27D7355B3}"/>
              </a:ext>
            </a:extLst>
          </p:cNvPr>
          <p:cNvSpPr/>
          <p:nvPr/>
        </p:nvSpPr>
        <p:spPr>
          <a:xfrm>
            <a:off x="738378" y="138684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8">
            <a:extLst>
              <a:ext uri="{FF2B5EF4-FFF2-40B4-BE49-F238E27FC236}">
                <a16:creationId xmlns:a16="http://schemas.microsoft.com/office/drawing/2014/main" id="{1BDCF40A-0E34-4FB5-B8D1-2991F48F67AC}"/>
              </a:ext>
            </a:extLst>
          </p:cNvPr>
          <p:cNvSpPr/>
          <p:nvPr/>
        </p:nvSpPr>
        <p:spPr>
          <a:xfrm>
            <a:off x="4315968" y="138684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247A8AAE-2155-412E-A53C-6DE2A9067E2A}"/>
              </a:ext>
            </a:extLst>
          </p:cNvPr>
          <p:cNvSpPr/>
          <p:nvPr/>
        </p:nvSpPr>
        <p:spPr>
          <a:xfrm>
            <a:off x="8110728" y="138684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6D8BB-63FE-447C-BB6D-5FC9E245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19100"/>
            <a:ext cx="9601200" cy="5715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нужно защищать?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2B2B4C-9C2B-44B5-A85E-11BC6556E641}"/>
              </a:ext>
            </a:extLst>
          </p:cNvPr>
          <p:cNvSpPr txBox="1"/>
          <p:nvPr/>
        </p:nvSpPr>
        <p:spPr>
          <a:xfrm>
            <a:off x="886968" y="1453895"/>
            <a:ext cx="3063240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Данные клиентов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5C67DC-3241-46F8-B714-DDA517E1B1E1}"/>
              </a:ext>
            </a:extLst>
          </p:cNvPr>
          <p:cNvSpPr txBox="1"/>
          <p:nvPr/>
        </p:nvSpPr>
        <p:spPr>
          <a:xfrm>
            <a:off x="886968" y="1856231"/>
            <a:ext cx="3063240" cy="978407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200" b="0" dirty="0" err="1">
                <a:solidFill>
                  <a:srgbClr val="2D3746"/>
                </a:solidFill>
                <a:latin typeface="Aptos"/>
              </a:rPr>
              <a:t>Контакты</a:t>
            </a:r>
            <a:r>
              <a:rPr sz="1200" b="0" dirty="0">
                <a:solidFill>
                  <a:srgbClr val="2D3746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2D3746"/>
                </a:solidFill>
                <a:latin typeface="Aptos"/>
              </a:rPr>
              <a:t>договоры</a:t>
            </a:r>
            <a:r>
              <a:rPr sz="1200" b="0" dirty="0">
                <a:solidFill>
                  <a:srgbClr val="2D3746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2D3746"/>
                </a:solidFill>
                <a:latin typeface="Aptos"/>
              </a:rPr>
              <a:t>обращения</a:t>
            </a:r>
            <a:endParaRPr sz="1200" b="0" dirty="0">
              <a:solidFill>
                <a:srgbClr val="2D3746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4E1493-671A-4170-BAA2-DEBA6CFE814B}"/>
              </a:ext>
            </a:extLst>
          </p:cNvPr>
          <p:cNvSpPr txBox="1"/>
          <p:nvPr/>
        </p:nvSpPr>
        <p:spPr>
          <a:xfrm>
            <a:off x="4590288" y="1453895"/>
            <a:ext cx="3063240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Коммерческая тайна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69B9F0-3C0B-408F-A383-109A910FF069}"/>
              </a:ext>
            </a:extLst>
          </p:cNvPr>
          <p:cNvSpPr txBox="1"/>
          <p:nvPr/>
        </p:nvSpPr>
        <p:spPr>
          <a:xfrm>
            <a:off x="4590288" y="1856231"/>
            <a:ext cx="3063240" cy="978407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Цены, стратегия, разработки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793C04-D641-4A33-BFF6-86CBE16677A0}"/>
              </a:ext>
            </a:extLst>
          </p:cNvPr>
          <p:cNvSpPr txBox="1"/>
          <p:nvPr/>
        </p:nvSpPr>
        <p:spPr>
          <a:xfrm>
            <a:off x="8293608" y="1453895"/>
            <a:ext cx="3063240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Учётные записи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AAF9B3-CDBC-4240-A293-2D47C0228BFC}"/>
              </a:ext>
            </a:extLst>
          </p:cNvPr>
          <p:cNvSpPr txBox="1"/>
          <p:nvPr/>
        </p:nvSpPr>
        <p:spPr>
          <a:xfrm>
            <a:off x="8293608" y="1856231"/>
            <a:ext cx="3063240" cy="978407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Пароли, токены, права доступа</a:t>
            </a:r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E48F17EE-C5E0-455F-8FE5-D7C39D347807}"/>
              </a:ext>
            </a:extLst>
          </p:cNvPr>
          <p:cNvSpPr/>
          <p:nvPr/>
        </p:nvSpPr>
        <p:spPr>
          <a:xfrm>
            <a:off x="685800" y="338328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78D788-BB29-4B51-BDAB-8F296AE1EA21}"/>
              </a:ext>
            </a:extLst>
          </p:cNvPr>
          <p:cNvSpPr txBox="1"/>
          <p:nvPr/>
        </p:nvSpPr>
        <p:spPr>
          <a:xfrm>
            <a:off x="886968" y="3511296"/>
            <a:ext cx="3063240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600" b="1" dirty="0">
                <a:solidFill>
                  <a:srgbClr val="192D4B"/>
                </a:solidFill>
                <a:latin typeface="Aptos"/>
              </a:rPr>
              <a:t>ИТ-</a:t>
            </a:r>
            <a:r>
              <a:rPr sz="1600" b="1" dirty="0" err="1">
                <a:solidFill>
                  <a:srgbClr val="192D4B"/>
                </a:solidFill>
                <a:latin typeface="Aptos"/>
              </a:rPr>
              <a:t>инфраструктура</a:t>
            </a:r>
            <a:endParaRPr sz="1600" b="1" dirty="0">
              <a:solidFill>
                <a:srgbClr val="192D4B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DF13C1-5395-4A71-AE13-AA2E3FF6C3A4}"/>
              </a:ext>
            </a:extLst>
          </p:cNvPr>
          <p:cNvSpPr txBox="1"/>
          <p:nvPr/>
        </p:nvSpPr>
        <p:spPr>
          <a:xfrm>
            <a:off x="886968" y="3913632"/>
            <a:ext cx="3063240" cy="978407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Серверы, ПК, сети, облака</a:t>
            </a:r>
          </a:p>
        </p:txBody>
      </p:sp>
      <p:sp>
        <p:nvSpPr>
          <p:cNvPr id="27" name="Rounded Rectangle 22">
            <a:extLst>
              <a:ext uri="{FF2B5EF4-FFF2-40B4-BE49-F238E27FC236}">
                <a16:creationId xmlns:a16="http://schemas.microsoft.com/office/drawing/2014/main" id="{8425C376-9C1E-4B8B-B696-6FA92D00114D}"/>
              </a:ext>
            </a:extLst>
          </p:cNvPr>
          <p:cNvSpPr/>
          <p:nvPr/>
        </p:nvSpPr>
        <p:spPr>
          <a:xfrm>
            <a:off x="4389120" y="338328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5ACF9E-2B43-413E-86BF-E8D1FA2321C2}"/>
              </a:ext>
            </a:extLst>
          </p:cNvPr>
          <p:cNvSpPr txBox="1"/>
          <p:nvPr/>
        </p:nvSpPr>
        <p:spPr>
          <a:xfrm>
            <a:off x="4590288" y="3511296"/>
            <a:ext cx="3063240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Резервные копии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44DF99-B553-4CC8-A8D7-E2AB668C76BC}"/>
              </a:ext>
            </a:extLst>
          </p:cNvPr>
          <p:cNvSpPr txBox="1"/>
          <p:nvPr/>
        </p:nvSpPr>
        <p:spPr>
          <a:xfrm>
            <a:off x="4590288" y="3913632"/>
            <a:ext cx="3063240" cy="978407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Данные и средства восстановления</a:t>
            </a:r>
          </a:p>
        </p:txBody>
      </p:sp>
      <p:sp>
        <p:nvSpPr>
          <p:cNvPr id="31" name="Rounded Rectangle 26">
            <a:extLst>
              <a:ext uri="{FF2B5EF4-FFF2-40B4-BE49-F238E27FC236}">
                <a16:creationId xmlns:a16="http://schemas.microsoft.com/office/drawing/2014/main" id="{7FC88BB4-D960-47D0-8C61-2F63C64FD77F}"/>
              </a:ext>
            </a:extLst>
          </p:cNvPr>
          <p:cNvSpPr/>
          <p:nvPr/>
        </p:nvSpPr>
        <p:spPr>
          <a:xfrm>
            <a:off x="8092440" y="338328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6DE447-8DE9-45ED-B681-AA974AC7EC6E}"/>
              </a:ext>
            </a:extLst>
          </p:cNvPr>
          <p:cNvSpPr txBox="1"/>
          <p:nvPr/>
        </p:nvSpPr>
        <p:spPr>
          <a:xfrm>
            <a:off x="8293608" y="3511296"/>
            <a:ext cx="3063240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Бизнес-процессы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4BACDD-1E3D-417B-B348-E242A1E9B47F}"/>
              </a:ext>
            </a:extLst>
          </p:cNvPr>
          <p:cNvSpPr txBox="1"/>
          <p:nvPr/>
        </p:nvSpPr>
        <p:spPr>
          <a:xfrm>
            <a:off x="8293608" y="3913632"/>
            <a:ext cx="3063240" cy="978407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/>
            <a:r>
              <a:rPr sz="1200" b="0">
                <a:solidFill>
                  <a:srgbClr val="2D3746"/>
                </a:solidFill>
                <a:latin typeface="Aptos"/>
              </a:rPr>
              <a:t>Платежи, производство, логистика</a:t>
            </a:r>
          </a:p>
        </p:txBody>
      </p:sp>
    </p:spTree>
    <p:extLst>
      <p:ext uri="{BB962C8B-B14F-4D97-AF65-F5344CB8AC3E}">
        <p14:creationId xmlns:p14="http://schemas.microsoft.com/office/powerpoint/2010/main" val="91239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639F6-16A6-4AAC-AD44-4CC4ECC5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114300"/>
            <a:ext cx="11520487" cy="1000125"/>
          </a:xfrm>
        </p:spPr>
        <p:txBody>
          <a:bodyPr>
            <a:noAutofit/>
          </a:bodyPr>
          <a:lstStyle/>
          <a:p>
            <a:pPr algn="just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Средства защиты информации для коммерческих структур более многообразны и включают в себя средства:</a:t>
            </a:r>
            <a:endParaRPr lang="ru-RU" sz="2400" dirty="0"/>
          </a:p>
        </p:txBody>
      </p:sp>
      <p:sp>
        <p:nvSpPr>
          <p:cNvPr id="4" name="Rounded Rectangle 18">
            <a:extLst>
              <a:ext uri="{FF2B5EF4-FFF2-40B4-BE49-F238E27FC236}">
                <a16:creationId xmlns:a16="http://schemas.microsoft.com/office/drawing/2014/main" id="{4C92FB27-76BF-49C9-B5AA-5B69C63D9525}"/>
              </a:ext>
            </a:extLst>
          </p:cNvPr>
          <p:cNvSpPr/>
          <p:nvPr/>
        </p:nvSpPr>
        <p:spPr>
          <a:xfrm>
            <a:off x="781240" y="1114425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У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Aptos"/>
              </a:rPr>
              <a:t>правления обновлениями программных компонент</a:t>
            </a:r>
            <a:endParaRPr sz="2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66CE6E09-C045-49D9-A4E5-E5C8758F5067}"/>
              </a:ext>
            </a:extLst>
          </p:cNvPr>
          <p:cNvSpPr/>
          <p:nvPr/>
        </p:nvSpPr>
        <p:spPr>
          <a:xfrm>
            <a:off x="3119817" y="1114424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Построение </a:t>
            </a:r>
            <a:r>
              <a:rPr lang="en-US" sz="2000" b="1" dirty="0">
                <a:solidFill>
                  <a:srgbClr val="0070C0"/>
                </a:solidFill>
                <a:latin typeface="Aptos"/>
              </a:rPr>
              <a:t>VPN</a:t>
            </a:r>
            <a:endParaRPr lang="ru-RU" sz="2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7816D7E8-5904-4045-91E0-E6A9DF1B51BC}"/>
              </a:ext>
            </a:extLst>
          </p:cNvPr>
          <p:cNvSpPr/>
          <p:nvPr/>
        </p:nvSpPr>
        <p:spPr>
          <a:xfrm>
            <a:off x="5458394" y="1114424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Резервное копирование и архивирование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F4B36D19-4CCA-455C-A389-7828A496E79F}"/>
              </a:ext>
            </a:extLst>
          </p:cNvPr>
          <p:cNvSpPr/>
          <p:nvPr/>
        </p:nvSpPr>
        <p:spPr>
          <a:xfrm>
            <a:off x="7796971" y="1114424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Защита от спама</a:t>
            </a:r>
          </a:p>
        </p:txBody>
      </p:sp>
      <p:sp>
        <p:nvSpPr>
          <p:cNvPr id="8" name="Rounded Rectangle 18">
            <a:extLst>
              <a:ext uri="{FF2B5EF4-FFF2-40B4-BE49-F238E27FC236}">
                <a16:creationId xmlns:a16="http://schemas.microsoft.com/office/drawing/2014/main" id="{CF3A31D6-E658-4714-AAF9-1218DA5AD6CC}"/>
              </a:ext>
            </a:extLst>
          </p:cNvPr>
          <p:cNvSpPr/>
          <p:nvPr/>
        </p:nvSpPr>
        <p:spPr>
          <a:xfrm>
            <a:off x="10135548" y="1114423"/>
            <a:ext cx="1951677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Контроль доступа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D91EB3E4-0A41-4DD7-BEC2-9DB635A032A3}"/>
              </a:ext>
            </a:extLst>
          </p:cNvPr>
          <p:cNvSpPr/>
          <p:nvPr/>
        </p:nvSpPr>
        <p:spPr>
          <a:xfrm>
            <a:off x="732857" y="4572001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Контроль целостности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44E4E44A-21D1-4211-B359-C1782D196F90}"/>
              </a:ext>
            </a:extLst>
          </p:cNvPr>
          <p:cNvSpPr/>
          <p:nvPr/>
        </p:nvSpPr>
        <p:spPr>
          <a:xfrm>
            <a:off x="3119817" y="4510086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Централизованное управление безопасностью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6FFD15AE-601B-4B0D-9326-732DC3210281}"/>
              </a:ext>
            </a:extLst>
          </p:cNvPr>
          <p:cNvSpPr/>
          <p:nvPr/>
        </p:nvSpPr>
        <p:spPr>
          <a:xfrm>
            <a:off x="5458394" y="4510085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Межсетевое экранирование</a:t>
            </a: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1F24996E-6ED9-4712-9AE9-88033FD3F942}"/>
              </a:ext>
            </a:extLst>
          </p:cNvPr>
          <p:cNvSpPr/>
          <p:nvPr/>
        </p:nvSpPr>
        <p:spPr>
          <a:xfrm>
            <a:off x="7748588" y="4510083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Обнаружение вторжений и аномалий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6256D52C-6947-44F1-97A7-FCDFE25A6EFF}"/>
              </a:ext>
            </a:extLst>
          </p:cNvPr>
          <p:cNvSpPr/>
          <p:nvPr/>
        </p:nvSpPr>
        <p:spPr>
          <a:xfrm>
            <a:off x="10087165" y="4510084"/>
            <a:ext cx="2119123" cy="11715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70C0"/>
                </a:solidFill>
                <a:latin typeface="Aptos"/>
              </a:rPr>
              <a:t>Инфраструктура открытых ключей</a:t>
            </a:r>
          </a:p>
        </p:txBody>
      </p:sp>
    </p:spTree>
    <p:extLst>
      <p:ext uri="{BB962C8B-B14F-4D97-AF65-F5344CB8AC3E}">
        <p14:creationId xmlns:p14="http://schemas.microsoft.com/office/powerpoint/2010/main" val="321658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9360F-367F-4211-A597-01227E47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960120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Организационные меры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49C967-70D2-4A63-90A0-673F31B5B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5" y="814388"/>
            <a:ext cx="10144125" cy="5053012"/>
          </a:xfrm>
        </p:spPr>
        <p:txBody>
          <a:bodyPr/>
          <a:lstStyle/>
          <a:p>
            <a:r>
              <a:rPr lang="ru-RU" sz="2000" b="0" dirty="0">
                <a:solidFill>
                  <a:srgbClr val="2D3746"/>
                </a:solidFill>
                <a:latin typeface="Aptos"/>
              </a:rPr>
              <a:t>Утвердить политику информационной безопасности.</a:t>
            </a:r>
          </a:p>
          <a:p>
            <a:r>
              <a:rPr lang="ru-RU" sz="2000" b="0" dirty="0">
                <a:solidFill>
                  <a:srgbClr val="2D3746"/>
                </a:solidFill>
                <a:latin typeface="Aptos"/>
              </a:rPr>
              <a:t>Назначить владельцев данных и ответственных за ИБ.</a:t>
            </a:r>
          </a:p>
          <a:p>
            <a:r>
              <a:rPr lang="ru-RU" sz="2000" b="0" dirty="0">
                <a:solidFill>
                  <a:srgbClr val="2D3746"/>
                </a:solidFill>
                <a:latin typeface="Aptos"/>
              </a:rPr>
              <a:t>Классифицировать информацию по критичности.</a:t>
            </a:r>
          </a:p>
          <a:p>
            <a:r>
              <a:rPr lang="ru-RU" sz="2000" b="0" dirty="0">
                <a:solidFill>
                  <a:srgbClr val="2D3746"/>
                </a:solidFill>
                <a:latin typeface="Aptos"/>
              </a:rPr>
              <a:t>Определить правила доступа, хранения и передачи данных.</a:t>
            </a:r>
          </a:p>
          <a:p>
            <a:r>
              <a:rPr lang="ru-RU" sz="2000" b="0" dirty="0">
                <a:solidFill>
                  <a:srgbClr val="2D3746"/>
                </a:solidFill>
                <a:latin typeface="Aptos"/>
              </a:rPr>
              <a:t>Включить требования ИБ в договоры с подрядчиками.</a:t>
            </a:r>
          </a:p>
          <a:p>
            <a:r>
              <a:rPr lang="ru-RU" sz="2000" b="0" dirty="0">
                <a:solidFill>
                  <a:srgbClr val="2D3746"/>
                </a:solidFill>
                <a:latin typeface="Aptos"/>
              </a:rPr>
              <a:t>Проводить обучение и регулярные проверки.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133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BDC29-C075-4620-B0AD-A1EBB4F3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0"/>
            <a:ext cx="9601200" cy="1485900"/>
          </a:xfrm>
        </p:spPr>
        <p:txBody>
          <a:bodyPr/>
          <a:lstStyle/>
          <a:p>
            <a:r>
              <a:rPr lang="ru-RU" dirty="0"/>
              <a:t>Работа с сотрудниками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B1655-FDD0-421D-9EEC-3387C7E5B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1185863"/>
            <a:ext cx="11491913" cy="4681537"/>
          </a:xfrm>
        </p:spPr>
        <p:txBody>
          <a:bodyPr/>
          <a:lstStyle/>
          <a:p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Обучение:</a:t>
            </a:r>
            <a:r>
              <a:rPr lang="ru-RU" sz="2000" b="0" i="0" u="none" dirty="0">
                <a:solidFill>
                  <a:srgbClr val="333333"/>
                </a:solidFill>
                <a:latin typeface="Segoe UI"/>
              </a:rPr>
              <a:t> регулярные инструктажи по базовой цифровой гигиене.</a:t>
            </a:r>
          </a:p>
          <a:p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Сложные пароли:</a:t>
            </a:r>
            <a:r>
              <a:rPr lang="ru-RU" sz="2000" b="0" i="0" u="none" dirty="0">
                <a:solidFill>
                  <a:srgbClr val="333333"/>
                </a:solidFill>
                <a:latin typeface="Segoe UI"/>
              </a:rPr>
              <a:t> запрет на простые комбинации и их регулярная смена.</a:t>
            </a:r>
          </a:p>
          <a:p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Осторожность с почтой:</a:t>
            </a:r>
            <a:r>
              <a:rPr lang="ru-RU" sz="2000" b="0" i="0" u="none" dirty="0">
                <a:solidFill>
                  <a:srgbClr val="333333"/>
                </a:solidFill>
                <a:latin typeface="Segoe UI"/>
              </a:rPr>
              <a:t> проверка отправителей, запрет на открытие подозрительных файлов.</a:t>
            </a:r>
          </a:p>
          <a:p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Минимум прав:</a:t>
            </a:r>
            <a:r>
              <a:rPr lang="ru-RU" sz="2000" b="0" i="0" u="none" dirty="0">
                <a:solidFill>
                  <a:srgbClr val="333333"/>
                </a:solidFill>
                <a:latin typeface="Segoe UI"/>
              </a:rPr>
              <a:t> сотрудник получает доступ только к тем файлам, которые нужны для работы.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729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4CC0B-9E56-45FA-9322-D5EEAEC0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9601200" cy="1485900"/>
          </a:xfrm>
        </p:spPr>
        <p:txBody>
          <a:bodyPr/>
          <a:lstStyle/>
          <a:p>
            <a:r>
              <a:rPr lang="ru-RU" dirty="0"/>
              <a:t>Базовые программы защиты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77048-0549-4A48-979C-B0EDB03E8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Антивирусное ПО </a:t>
            </a:r>
            <a:r>
              <a:rPr lang="ru-RU" sz="2000" i="0" u="none" dirty="0">
                <a:solidFill>
                  <a:srgbClr val="333333"/>
                </a:solidFill>
                <a:latin typeface="Segoe UI"/>
              </a:rPr>
              <a:t>—</a:t>
            </a:r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 </a:t>
            </a:r>
            <a:r>
              <a:rPr lang="ru-RU" dirty="0">
                <a:solidFill>
                  <a:srgbClr val="666666"/>
                </a:solidFill>
                <a:latin typeface="Segoe UI"/>
              </a:rPr>
              <a:t>з</a:t>
            </a:r>
            <a:r>
              <a:rPr lang="ru-RU" sz="2000" b="0" i="0" u="none" dirty="0">
                <a:solidFill>
                  <a:srgbClr val="666666"/>
                </a:solidFill>
                <a:latin typeface="Segoe UI"/>
              </a:rPr>
              <a:t>ащищает рабочие компьютеры от вредоносных программ и вирусов.</a:t>
            </a:r>
          </a:p>
          <a:p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Межсетевой экран (</a:t>
            </a:r>
            <a:r>
              <a:rPr lang="ru-RU" sz="2000" b="1" i="0" u="none" dirty="0" err="1">
                <a:solidFill>
                  <a:srgbClr val="333333"/>
                </a:solidFill>
                <a:latin typeface="Segoe UI"/>
              </a:rPr>
              <a:t>Файрвол</a:t>
            </a:r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) </a:t>
            </a:r>
            <a:r>
              <a:rPr lang="ru-RU" sz="2000" i="0" u="none" dirty="0">
                <a:solidFill>
                  <a:srgbClr val="333333"/>
                </a:solidFill>
                <a:latin typeface="Segoe UI"/>
              </a:rPr>
              <a:t>—</a:t>
            </a:r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 </a:t>
            </a:r>
            <a:r>
              <a:rPr lang="ru-RU" dirty="0">
                <a:solidFill>
                  <a:srgbClr val="666666"/>
                </a:solidFill>
                <a:latin typeface="Segoe UI"/>
              </a:rPr>
              <a:t>к</a:t>
            </a:r>
            <a:r>
              <a:rPr lang="ru-RU" sz="2000" b="0" i="0" u="none" dirty="0">
                <a:solidFill>
                  <a:srgbClr val="666666"/>
                </a:solidFill>
                <a:latin typeface="Segoe UI"/>
              </a:rPr>
              <a:t>онтролирует и фильтрует сетевой трафик между офисом и интернетом.</a:t>
            </a:r>
          </a:p>
          <a:p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Резервное копирование (Бэкап) </a:t>
            </a:r>
            <a:r>
              <a:rPr lang="ru-RU" sz="2000" i="0" u="none" dirty="0">
                <a:solidFill>
                  <a:srgbClr val="333333"/>
                </a:solidFill>
                <a:latin typeface="Segoe UI"/>
              </a:rPr>
              <a:t>—</a:t>
            </a:r>
            <a:r>
              <a:rPr lang="ru-RU" sz="2000" b="1" i="0" u="none" dirty="0">
                <a:solidFill>
                  <a:srgbClr val="333333"/>
                </a:solidFill>
                <a:latin typeface="Segoe UI"/>
              </a:rPr>
              <a:t> </a:t>
            </a:r>
            <a:r>
              <a:rPr lang="ru-RU" dirty="0">
                <a:solidFill>
                  <a:srgbClr val="666666"/>
                </a:solidFill>
                <a:latin typeface="Segoe UI"/>
              </a:rPr>
              <a:t>р</a:t>
            </a:r>
            <a:r>
              <a:rPr lang="ru-RU" sz="2000" b="0" i="0" u="none" dirty="0">
                <a:solidFill>
                  <a:srgbClr val="666666"/>
                </a:solidFill>
                <a:latin typeface="Segoe UI"/>
              </a:rPr>
              <a:t>егулярное сохранение копий важных файлов на случай сбоев или атак.</a:t>
            </a:r>
          </a:p>
          <a:p>
            <a:endParaRPr lang="ru-RU" sz="2000" b="1" i="0" u="none" dirty="0">
              <a:solidFill>
                <a:srgbClr val="333333"/>
              </a:solidFill>
              <a:latin typeface="Segoe UI"/>
            </a:endParaRPr>
          </a:p>
          <a:p>
            <a:endParaRPr lang="ru-RU" sz="2000" b="1" i="0" u="none" dirty="0">
              <a:solidFill>
                <a:srgbClr val="333333"/>
              </a:solidFill>
              <a:latin typeface="Segoe UI"/>
            </a:endParaRPr>
          </a:p>
          <a:p>
            <a:endParaRPr lang="ru-RU" sz="2000" b="1" i="0" u="none" dirty="0">
              <a:solidFill>
                <a:srgbClr val="333333"/>
              </a:solidFill>
              <a:latin typeface="Segoe 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0340925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43</TotalTime>
  <Words>300</Words>
  <Application>Microsoft Office PowerPoint</Application>
  <PresentationFormat>Широкоэкранный</PresentationFormat>
  <Paragraphs>52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Arial</vt:lpstr>
      <vt:lpstr>Franklin Gothic Book</vt:lpstr>
      <vt:lpstr>Segoe UI</vt:lpstr>
      <vt:lpstr>Уголки</vt:lpstr>
      <vt:lpstr>Организация защиты информации  на корпоративных предприятиях </vt:lpstr>
      <vt:lpstr>Презентация PowerPoint</vt:lpstr>
      <vt:lpstr>Что нужно защищать?</vt:lpstr>
      <vt:lpstr>Средства защиты информации для коммерческих структур более многообразны и включают в себя средства:</vt:lpstr>
      <vt:lpstr>Организационные меры </vt:lpstr>
      <vt:lpstr>Работа с сотрудниками </vt:lpstr>
      <vt:lpstr>Базовые программы защиты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защиты информации  на корпоративных предприятиях </dc:title>
  <dc:creator>admin 1</dc:creator>
  <cp:lastModifiedBy>admin 1</cp:lastModifiedBy>
  <cp:revision>2</cp:revision>
  <dcterms:created xsi:type="dcterms:W3CDTF">2026-10-18T17:54:14Z</dcterms:created>
  <dcterms:modified xsi:type="dcterms:W3CDTF">2026-10-18T18:37:23Z</dcterms:modified>
</cp:coreProperties>
</file>